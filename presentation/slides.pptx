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MLE-AI-201: ADVANCED MACHINE LEARNING FINAL DEFENSE</a:t>
            </a:r>
          </a:p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</a:defRPr>
            </a:pPr>
            <a:r>
              <a:t>Bina.az Real Estate Price Prediction &amp; Classification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From-Scratch NumPy Decision Tree &amp; Pegasos Soft-Margin SVM with RFF vs Scikit-Learn Baselines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329184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600"/>
              </a:spcAft>
              <a:defRPr sz="1000" b="1">
                <a:solidFill>
                  <a:srgbClr val="0D9488"/>
                </a:solidFill>
              </a:defRPr>
            </a:pPr>
            <a:r>
              <a:t>MÜDAFİƏ BLOKU 1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</a:defRPr>
            </a:pPr>
            <a:r>
              <a:t>Üzv 1: Eldar Səmədov (Slayd 2 - 7)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Data Pipeline, Deduplikasiya, Leakage Firewall, Stratified Split, EDA, Metrikalar və Web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474720"/>
            <a:ext cx="329184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</a:defRPr>
            </a:pPr>
            <a:r>
              <a:t>MÜDAFİƏ BLOKU 2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</a:defRPr>
            </a:pPr>
            <a:r>
              <a:t>Üzv 2: Nərminə Rzayeva (Slayd 8 - 13)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NumPy Decision Tree, Impurity Meyarları, Vectorized Cumsum O(N), Sweeps, Sklearn Uyğunluğu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474720"/>
            <a:ext cx="329184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600"/>
              </a:spcAft>
              <a:defRPr sz="1000" b="1">
                <a:solidFill>
                  <a:srgbClr val="D97706"/>
                </a:solidFill>
              </a:defRPr>
            </a:pPr>
            <a:r>
              <a:t>MÜDAFİƏ BLOKU 3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</a:defRPr>
            </a:pPr>
            <a:r>
              <a:t>Üzv 3: Mirkənan Qədirli (Slayd 14 - 19)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NumPy Pegasos Soft-Margin SVM, Konvergensiya, Marja və Support Vectors, RFF Kernel, Lambda Süpürməsi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ÜZV 1: ELDAR SƏMƏDOV (1/6)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Problem Tərifi, Məqsədlər və Task A &amp; B Formulyasiyası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data_prep.py: Reqressiya və təsnifat hədəflərinin riyazi quruluşu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TASK A: REQRESSIYA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Task A: Continuous Price Regression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Məqsəd: Mənzillərin real satış qiymətini (AZN) dəqiq proqnozlaşdırmaq.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Niyə Log Transformasiyası (y = ln(price))?: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Xam qiymət paylanmasında güclü sağa əyilmə (skewness = 6.18) mövcud idi.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Multiplikativ xəta strukturunu xətti məkana gətirir: 100k evdə 10k xəta ilə 1M evdə 100k xəta eyni faiz nisbətində cəzalandırılır.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Log transformasiyadan sonra skewness 0.25-ə düşərək paylanma Gauss qanununa yaxınlaşdı.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Qiymətləndirmə: RMSE(log), R²(log) və təbii ölçüdə MAE(AZN).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TASK B: TƏSNIFAT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Task B: Binary Tier Classification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Məqsəd: Bazar seqmentasiyası: Premium (1) və Standard (0) təbəqəsi.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Median Hədd Siyasəti (210,000 AZN):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Hədd qəti şəkildə yalnız və yalnız Train split-in medianından tapıldı.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Bu hədd test və val üçün dəyişməz sabit qəbul edildi.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Niyə Balanslaşdırılmış Hədd?: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Median hər iki sinif üçün tam 50% / 50% balans yaradır.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Dummy baseline-ların (hamısına 0 və ya 1 deyən) qeyri-ədalətli Accuracy qazanmasının qarşısı alınır.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Qiymətləndirmə: Accuracy, Precision, Recall, F1 və ROC-AUC.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ÜZV 1: ELDAR SƏMƏDOV (2/6)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Təmizləmə, Outlier Filtrləri və Sentinel İmputasiya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data_prep.py: 100,775 xam sətirdən 63,908 təmiz elana və 164 feature-a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2100" b="1">
                <a:solidFill>
                  <a:srgbClr val="0D9488"/>
                </a:solidFill>
              </a:defRPr>
            </a:pPr>
            <a:r>
              <a:t>100,775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İlkin Xam Sətir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Bina.az dump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2100" b="1">
                <a:solidFill>
                  <a:srgbClr val="0D9488"/>
                </a:solidFill>
              </a:defRPr>
            </a:pPr>
            <a:r>
              <a:t>36,321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Dublikat Silindi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URL üzrə son scrape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2100" b="1">
                <a:solidFill>
                  <a:srgbClr val="0D9488"/>
                </a:solidFill>
              </a:defRPr>
            </a:pPr>
            <a:r>
              <a:t>63,908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Təmizlənmiş Elan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Final filtrdən keçən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2100" b="1">
                <a:solidFill>
                  <a:srgbClr val="0D9488"/>
                </a:solidFill>
              </a:defRPr>
            </a:pPr>
            <a:r>
              <a:t>164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Feature Ölçüsü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One-hot kodlaşdırma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FILTRLƏMƏ STRATEGIYASI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Deduplikasiya &amp; Domain Outlier Filtrləri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URL Əsaslı Deduplikasiya: Eyni elan müxtəlif tarixlərdə scrape edildiyi üçün yalnız ən son yenilənmiş sətir saxlanıldı.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Domain Outlier Hüdudları: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Qiymət: [10,000, 5,000,000] AZN (457 səhv daxiletmə silindi).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Sahə: [10, 20,000] m² (88 anomal qeyd kənarlaşdırıldı).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Coğrafi Bounding Box: Azərbaycan xəritəsi kənarında olan koordinatlar ([38.3, 42.0]°N, [44.7, 51.0]°E) təmizləndi.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İMPUTASIYA PRINSIPLƏRI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Niyə No-Median? Sentinel İmputasiya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Sual: Niyə boşluqları sütun medianı ilə doldurmadıq?: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Cavab: Median doldurulması sızma (leakage) yarada bilər və paylanmanın dispersiyasını süni şəkildə azaldır.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Domain Sentinel Siyasəti: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Boş dəyərlər sabit 0 ilə dolduruldu.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Hər buraxılmış dəyər üçün *_missing indikator flag-i yaradıldı (model əksikliyin özünü öyrənir).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Məsafə: Mərkəzə (40.4093°N, 49.8671°E) Haversine məsafəsi hesablandı.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ÜZV 1: ELDAR SƏMƏDOV (3/6)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Data Leakage Firewall və Whitelist Mexanizmi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data_prep.py: Gələcək məlumatın modelə sızmasının 100% riyazi bloklanması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SIZMA MƏNBƏLƏRI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Qəti Qadağan Edilmiş Sütunlar (Leakage)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1. Hədəf Törəmələri (Target Leakage):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• 'unit_price' (AZN/m²) və 'total_price' birbaşa hədəf qiymətin törəmələridir. Əgər qalsa idi, model 100% R² göstərəcəkdi, lakin bu riyazi fırıldaqçılıq olardı.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2. Post-Listing &amp; Promo Göstəriciləri: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• 'views', 'updated', 'datetime_scrape', 'vip', 'featured' — bu sütunlar yalnız elan sayta qoyulduqdan SONRA yaranır. Satış anında bu məlumat olmur.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3. Whitelist Nizamı: clean() funksiyası yalnız əvvəlcədən təsdiqlənmiş 11 sütunu qəbul edir, qalan hər şey avtomatik kəsilir.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MÜDAFIƏ ƏSASLANDIRMASI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Sual-Cavab: Sızmanın Qarşısını Necə Aldınız?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Sual: Modelinizin sızmasız (leak-free) olduğuna zəmanətiniz nədir?: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Cavab 1: Whitelist. Heç bir kənar və ya hədəfə bağlı sütun feature matrisinə daxil ola bilməz.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Cavab 2: Stratified Split Siyasəti. 70% Train (44,732) / 15% Val (9,588) / 15% Test (9,588). Qiymət desilləri üzrə bölündü.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Cavab 3: Qat-qat Standartlaşdırma (Zero-Leakage Scaler). Standartlaşdırma parametrləri (μ və σ) yalnız Train split-dən hesablanır, test/val-a dondurulmuş şəkildə tətbiq olunur.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Cavab 4: Test split final hesabat cədvəlinə qədər tam toxunulmaz qaldı.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ÜZV 1: ELDAR SƏMƏDOV (4/6)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Kəşfiyyat Məlumat Analizi (EDA) və Coğrafi Dinamika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eda.py: Qiymət, otaq, rayon və coğrafi koordinatların vizual təhlili</a:t>
            </a:r>
          </a:p>
        </p:txBody>
      </p:sp>
      <p:pic>
        <p:nvPicPr>
          <p:cNvPr id="6" name="Picture 5" descr="01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26080"/>
          </a:xfrm>
          <a:prstGeom prst="rect">
            <a:avLst/>
          </a:prstGeom>
        </p:spPr>
      </p:pic>
      <p:pic>
        <p:nvPicPr>
          <p:cNvPr id="7" name="Picture 6" descr="06_locati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BAZAR TƏHLILI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Əsas Bazar İnsaytları (EDA Nəticələri)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Rayon Qiymət Fərqi: Mərkəzi rayonlar (Nəsimi, Səbail) kənar qəsəbələrdən (Qaradağ, Abşeron) 3-4 dəfə yüksək kvadratmetr qiymətinə malikdir.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Kupça və Təmir Faktoru: Kupçalı və təmirli evlər orta hesabla 25-35% qiymət üstünlüyü nümayiş etdirir.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Otaq və Sahə: Sahə (area_m2) ilə log(qiymət) arasında güclü korrelyasiya (r ~ 0.78) mövcuddur.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ÜZV 1: ELDAR SƏMƏDOV (5/6)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evaluate.py: Sıfırdan NumPy Metrikaları &amp; Doğrulama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Scikit-learn istifadə etmədən qurulmuş riyazi qiymətləndirmə sistemi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RIYAZI DÜSTURLAR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NumPy Qiymətləndirmə Metrikaları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Reqressiya Metrikaları: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RMSE(log) = √[ (1/n) Σ(ln y_i - ln ŷ_i)² ]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R²(log) = 1 - [ Σ(ln y_i - ln ŷ_i)² / Σ(ln y_i - ln ȳ)² ]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MAE(AZN) = (1/n) Σ |y_i - ŷ_i|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Təsnifat Metrikaları: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Confusion Matrix: [ [TN, FP], [FN, TP] ]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Accuracy = (TP + TN) / (TP + TN + FP + FN)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Precision = TP / (TP + FP)  (Səhv premium deməmək)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Recall = TP / (TP + FN)     (Heç bir premiumu qaçırmamaq)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F1-Score = 2 · (Precision · Recall) / (Precision + Recall)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SIFIRDAN ROC-AUC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Trapezoid Qaydası ilə Sıfırdan ROC-AUC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Sual: ROC-AUC-ni necə sıfırdan hesabladınız?: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1. Bütün proqnozlaşdırılan ehtimallar (və ya SVM marjaları) azalan sıra ilə sort edilir.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2. Hər hədd üçün True Positive Rate (TPR) və False Positive Rate (FPR) cütləri hesablanır.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3. Trapezoid İnteqrallama Qaydası (np.trapz):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  AUC = Σ_{i=1}^{M-1} (FPR_{i+1} - FPR_i) · [ (TPR_{i+1} + TPR_i) / 2 ]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Doğrulama (tests/test_evaluate.py):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Bizim NumPy ROC-AUC kodu sklearn.metrics.roc_auc_score ilə 10⁻⁷ dəqiqliklə eyni nəticəni verir.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ÜZV 1: ELDAR SƏMƏDOV (6/6)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Müdafiə Zamanı Verilə Biləcək Çətin Suallar &amp; Hazır Cavablar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Müəllimlərin Data Pipeline və Leakage üzrə verə biləcəyi 4 ən kritik sual və onların cavabı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Q&amp;A 1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1: Data Leakage-in qarşısını necə aldınız?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3 səviyyəli firewall qurduq: 1) 'unit_price' və 'total_price' hədəf törəmələri dərhal silindi; 2) Post-listing sütunları ('views', 'vip', 'updated') ləğv edildi; 3) Whitelist filtri ilə yalnız 11 icazəli sütun qəbul olundu. Test split finala qədər toxunulmaz saxlanıldı.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Q&amp;A 2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2: Niyə median əvəzinə sentinel (0) imputasiya?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Sütun medianı ilə doldurmaq məlumat sızması (leakage) yaradır və dispersiyanı süni azaldır. Əvəzində 0 sentinel qoyduq və hər çatışmayan dəyər üçün *_missing flag-i yaratdıq. Beləliklə, model boşluğun özünü bir informasiya kimi öyrənir.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Q&amp;A 3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3: Standartlaşdırmada sızma olmadı ki?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Qətiyyən xeyr! μ və σ parametrləri yalnız və yalnız Train split-dən (və ya hər CV fold-un daxili train hissəsindən) hesablandı. Test və Val splitləri üçün isə həmin dondurulmuş μ və σ tətbiq edildi. Heç bir qlobal statistikadan istifadə olunmadı.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Q&amp;A 4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4: ROC-AUC-ni necə sıfırdan hesabladınız?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Sklearn istifadə etmədən, bütün ehtimalları azalan sıra ilə düzüb hər hədd üçün TPR və FPR cütlərini tapdıq. Daha sonra Trapezoid inteqrallama qaydası (np.trapz) ilə əyri altındakı sahəni hesabladıq. tests/test_evaluate.py sklearn ilə 10⁻⁷ dəqiqlikdə eyniliyi təsdiqləyir.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ÜZV 2: NƏRMINƏ RZAYEVA (1/6)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NumPy ilə Sıfırdan Qərar Ağacı (Decision Tree) Memarlığı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decision_tree.py: Həm reqressiya, həm təsnifat dəstəkləyən təmiz OOP strukturu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OOP STRUKTURU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Düyün (Node) və Ağac Strukturu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OOP Arxitekturası: DecisionTree və Node sinifləri; Scikit-learn API standartı (.fit, .predict, .predict_proba).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Node Obyektinin Daxili Strukturu: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feature_index (int): Split olunan dəyişənin indeksi.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threshold (float): Bölünmə həddi.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left / right: Sol və sağ uşaq düyünlərinə göstəricilər.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value: Yarpaqda saxlanılan proqnoz (təsnifat üçün sinif paylanması, reqressiya üçün ȳ).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Rekursiv _grow Mexanizmi: Düyün stop şərtlərinə çatana qədər dərininə böyüyür.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BUDAQLANMA PRINSIPLƏRI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Çəkili Impurity Azalması (Impurity Gain)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Budaqlanma Meyarı: Hər addımda impurity-ni maksimum azaldan split seçilir: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ΔI = I(Parent) - [ (|L| / |S|) · I(L) + (|R| / |S|) · I(R) ]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Nümunələrin Say Çəkisi (|L|/|S| və |R|/|S|):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Çəkisiz impurity fırıldaqçı splitlər yarada bilər (məsələn, 1 nümunəni kəsib qalanını saxlayan splitlər).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Çəkili azalma böyük nümunə qruplarının təmizlənməsinə üstünlük verir.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min_impurity_decrease: Əgər əldə olunan qazanc bu həddən kiçikdirsə, budaqlanma dayandırılır.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ÜZV 2: NƏRMINƏ RZAYEVA (2/6)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Qeyri-saf Qalıq (Impurity) Meyarlarının Riyazi Təməli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Gini Impurity, Shannon Entropiyası və Dispersiyanın Azaldılması (Variance Reduction)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TƏSNIFAT MEYARLARI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Təsnifat Meyarları: Gini vs Entropy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1. Gini Impurity (Task B Əsas Meyarı):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I_Gini(S) = 1 - Σ_{k=1}^K p_k²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Təsadüfi seçilən nöqtənin səhv sinifləndirilmə ehtimalıdır. Balanslı halda (0.5/0.5) maksimum 0.5-dir. Tam saf halda 0 olur.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Üstünlüyü: Loqarifm tələb etmir, hesablama baxımından çox sürətlidir.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2. Shannon Entropiyası (Entropy):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I_Entropy(S) = - Σ_{k=1}^K p_k log₂(p_k)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İnformasiya nəzəriyyəsindəki qeyri-müəyyənlik ölçüsüdür. Balanslı halda 1.0 bit, tam saf halda 0 bitdir.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REQRESSIYA MEYARI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Reqressiya Meyarı: MSE / Variance Reduction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Mean Squared Error (Task A Meyarı):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I_MSE(S) = (1 / |S|) Σ_{i ∈ S} (y_i - ȳ)²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Reqressiyada impurity yarpaq daxilindəki hədəf qiymətlərin dispersiyasına (variance) bərabərdir.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Split axtarışında məqsəd: sol və sağ uşaq düyünlərin dispersiyalarının çəkili cəmini minimuma endirməkdir.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Yarpaq Proqnozu: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Həmin yarpağa düşən təlim nümunələrinin loqarifmik qiymət ortalaması: ŷ = ȳ = (1/|S|) Σ y_i.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ÜZV 2: NƏRMINƏ RZAYEVA (3/6)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O(N) Sürətləndirmə: Vectorized Cumsum Split Optimizasiyası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_best_split alqoritminin kumulyativ cəmlərlə 400x sürətləndirilməsi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2100" b="1">
                <a:solidFill>
                  <a:srgbClr val="2563EB"/>
                </a:solidFill>
              </a:defRPr>
            </a:pPr>
            <a:r>
              <a:t>~60 saniyə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İlkin Sürət (Kök Split)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Xam Python dövrləri ilə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2100" b="1">
                <a:solidFill>
                  <a:srgbClr val="2563EB"/>
                </a:solidFill>
              </a:defRPr>
            </a:pPr>
            <a:r>
              <a:t>0.15 saniyə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Optimallaşdırılmış Sürət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np.cumsum vektorlaşdırma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defRPr sz="2100" b="1">
                <a:solidFill>
                  <a:srgbClr val="2563EB"/>
                </a:solidFill>
              </a:defRPr>
            </a:pPr>
            <a:r>
              <a:t>400x Sürət Artımı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Bütün Təlim Prosesində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11s-də bütün 5-fold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DAR BOĞAZ (BOTTLENECK)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Problem: Xam Dövrün Zəifliyi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44,732 sətir və 164 feature olan matrisdə hər potensial split üçün soldakı və sağdakı sinifləri dövrlə saymaq O(N) vaxt alırdı.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Bütün split namizədlərini yoxlamaq O(N²) mürəkkəblik törədirdi.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Nəticədə bircə düyünün parçalanması 1 dəqiqə vaxt aparırdı və layihəni 5-fold CV ilə işlətmək saatlarla çəkirdi.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OPTIMAL ALQORITM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Həll: np.cumsum Vektorlaşdırması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1. Feature əvvəlcə tək bir dəfə sort edilir (O(N log N)).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2. Bütün sol tərəf sinif sayları və hədəf cəmləri np.cumsum() ilə tək massiv əməliyyatında alınır.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3. Sağ tərəf sadəcə Total - Left çıxılması ilə O(1)-də əldə edilir.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4. Bütün hədlər üçün impurity matrisi tək vektorlaşdırılmış əmrlə hesablanır və np.argmax ilə ən yaxşı hədd seçilir.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ÜZV 2: NƏRMINƏ RZAYEVA (4/6)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Hiperparametrlər və Sklearn ilə Split Testləri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tests/test_tree.py: 8 unit test və Problem 2c split dəqiqliyi təsdiqi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HIPERPARAMETR İDARƏSI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4 Əsas İdarəedici Hiperparametr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1. max_depth: Ağacın maksimal dərinliyini məhdudlaşdıraraq həddindən artıq öyrənmənin (overfitting) qarşısını alır.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2. min_samples_split: Düyünün parçalanması üçün tələb olunan minimum nümunə sayı.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3. min_samples_leaf: Yarpaq düyündə qalmalı olan minimum müşahidə sayı.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4. min_impurity_decrease: Yalnız çəkili impurity azalması bu həddi keçdikdə parçalanma qəbul edilir.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Test Təsdiqi: 4 testin hər biri göstərir ki, hiperparametrlərin dəyişməsi ağacın dərinliyini və quruluşunu birbaşa idarə edir.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DOĞRULAMA TƏSDIQI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Problem 2c: Sklearn ilə Split Uyğunluğu Testi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Sual: Bizim ağacımızın splitləri Scikit-Learn ilə eynidirmi?: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Cavab: Bəli! tests/test_tree.py daxilindəki Problem 2c testi eyni matris üzərində həm bizim ağacı, həm də sklearn DecisionTreeClassifier-i fit edir.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Yoxlanan Meyar: Kök düyündə seçilən feature indeksi, threshold dəyəri və sol/sağ nümunə sayları.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Nəticə: Split namizədləri və optimal hədd Scikit-Learn ilə 100% riyazi uyğunluq təşkil edir.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Float yuvarlaqlaşdırması və tie-breaking mexanizmləri tam nizamlandı.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ÜZV 2: NƏRMINƏ RZAYEVA (5/6)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Dərinlik Süpürməsi, Bias-Variance və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Problem 4a: Yalnız Validation üzərində seçim və Feature Importance hesabı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BIAS-VARIANCE BALANSI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Dərinlik Süpürməsi &amp; Bias-Variance Balansı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Dərinlik &lt; 8 (Underfitting / Yüksək Bias): Model sadə qalır, qanunauyğunluqları tuta bilmir (Validation F1 ~ 0.85).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Optimal Zolaq (depth = 12 - 16): Validation F1 0.9160 ± 0.0020 səviyyəsində maksimuma çatır.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Dərinlik &gt; 20 (Overfitting / Yüksək Variance): Train F1 0.99-a qalxır, lakin Validation zəifləyir (model küyü əzbərləyir).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Sual: Hiperparametrləri necə seçdiniz?: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Cavab: Yalnız və yalnız Validation seti üzərində! Test setinə seçim mərhələsində heç vaxt baxılmadı.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FEATURE IMPORTANCE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Feature Importance Hesablanması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Riyazi Hesablama Qaydası: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FI(f) = Σ_{t: split on f} (|S_t| / |S|) · ΔI_t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Hər parçalanmada qazanılan çəkili impurity azalması həmin feature-ın hesabına yazılır və cəmi 1-ə normallaşdırılır.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Bina.az üzrə Ən Həlledici Parametrlər: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1. area_m2 (Ümumi Sahə): ~48.2% təsir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2. dist_center_km (Mərkəzə Məsafə): ~21.7% təsir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3. location (Rayon One-Hot): ~14.1% təsir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4. rooms (Otaq Sayı): ~7.4% təsir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ÜZV 2: NƏRMINƏ RZAYEVA (6/6)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Müdafiə Zamanı Verilə Biləcək Çətin Suallar &amp; Hazır Cavablar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Müəllimlərin Decision Tree üzrə verə biləcəyi 4 ən kritik texniki sual və onların cavabı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Q&amp;A 1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1: Gini ilə Entropy arasındakı fərq nədir?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Gini (1 - Σ p²) hesablama baxımından daha sürətlidir, çünki loqarifm tələb etmir. Entropy (-Σ p log p) isə informasiya nəzəriyyəsinə əsaslanır və balanssız sinifləri daha sərt cəzalandırır.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Bizim Nəticə: Hər ikisi oxşar F1 (0.9210 vs 0.9194) verdi, lakin Gini hesablama sürətinə görə seçildi.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Q&amp;A 2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2: Cumsum necə O(N) sürət verir?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Xam yanaşmada hər split üçün sol və sağ tərəfi dövrlə saymaq O(N) çəkir, bütün splitlər isə O(N²) olur. Sort etdikdən sonra np.cumsum bütün sol sayları tək matris əməliyyatında verir, sağ tərəf isə Total - Left çıxılması ilə O(1)-də tapılır.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Q&amp;A 3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3: Sklearn ilə splitlər necə eyni oldu?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Eyni sintetik və real məlumatlar üzərində min_impurity_decrease çəkili azalma ilə uyğunlaşdırıldı, float hədləri eyni qayda ilə (ardıcıl iki qiymətin ortalaması) götürüldü və bərabərlik (tie-breaking) qaydaları sabitləndi.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Q&amp;A 4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4: Overfitting-in qarşısını necə aldınız?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Ağacın dərininə nəzarətsiz getməsinə icazə verilmədi. max_depth=16, min_samples_split=10 və min_samples_leaf=5 qoyuldu. Dərinlik 16-dan yuxarı qalxdıqda validation xətası artdığı üçün optimal hədd 16 seçildi.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ÜZV 3: MIRKƏNAN QƏDIRLI (1/6)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NumPy ilə Pegasos SVM: Primal Soft-Margin Optimizasiyası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svm.py: Stokastik Subqradiyent Enişi (SGD) ilə böyük miqyaslı xətti SVM alqoritmi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RIYAZI MODEL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Primal Soft-Margin Obyektiv Funksiyası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Məqsəd Funksiyası (J(w, b)):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J(w, b) = (λ / 2) ||w||² + (1 / m) Σ_{i=1}^m max(0, 1 - y_i (w · x_i + b))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Burada y_i ∈ {-1, +1} sinif etiketləridir (_to_pm1 çevirməsi).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İki Qarşıdurma Məqsədi: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1. L2 Regularizasiya: (λ/2)||w||² çəkiləri kiçik saxlayaraq marjanı (2/||w||) maksimumlaşdırır.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2. Hinge Loss: Marjanı pozan nümunələri xətti cəzalandırır (y_i(w·x_i+b) &lt; 1).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λ Parametri: Marja genişliyi ilə təsnifat dəqiqliyi arasındakı kompromisi tənzimləyir.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OPTIMIZASIYA QAYDASI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Pegasos Yeniləmə Qaydası &amp; Addım Ölçüsü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Dinamik Addım Ölçüsü: η_t = 1 / (λ · t)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İterasiya Qaydası (Mini-Batch Subgradient):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Əgər Hinge aktivdirsə (y_i (w · x_i + b) &lt; 1):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 w ← (1 - η_t · λ) w + η_t · (1 / |B|) Σ_{i ∈ B_viol} y_i x_i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 b ← b + η_t · (1 / |B|) Σ_{i ∈ B_viol} y_i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Əgər marja pozulmazsa: Çəkilər büzülür (shrinkage):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 w ← (1 - η_t · λ) w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Proyeksiyalama: ||w|| &gt; 1/√λ olduqda w ← w / (√λ ||w||).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ÜZV 3: MIRKƏNAN QƏDIRLI (2/6)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Obyektiv Funksiyanın İzlənməsi və Konvergensiya Zəmanəti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Hər epox üzrə J(w, b) hesablanması və testlərlə təsdiqlənmiş monoton azalma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KONVERGENSIYA TƏHLILI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Obyektiv Dəyərin İzlənməsi (objective_value)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Hər Epox üzrə Hesablama: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J_epoch = (λ / 2) ||w||² + (1 / N) Σ max(0, 1 - y_i (w · x_i + b))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Konvergensiya Davranışı: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1-3-cü epoxlar: Hinge loss kəskin azalır, obyektiv funksiya sürətlə enir.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4-7-ci epoxlar: Çəkilər optimal hiper-müstəvi ətrafında fokuslaşır.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8-10-cu epoxlar: J(w, b) asimptotik olaraq minimuma çatır və sabitləşir.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Unit Test Doğrulaması (tests/test_svm.py):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Avtomatik test yoxlayır ki, son epoxun obyekti ilk epoxdan qəti şəkildə kiçikdir.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STABILLIK NIZAMI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Stokastik Mini-Batch Stabilliyi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Niyə Mini-Batch?: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Tək nümunəli SGD yüksək dispersiyaya malikdir və yellənmələr yaradır.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Tam batch (44,732 nümunə) isə yavaşdır.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Mini-batch (B = 256) həm vektorlaşdırmanın sürətini təmin edir, həm də subqradiyenti hamarlaşdırır.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Məlumatın Şuffle Edilməsi (Permutation):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Hər epoxun əvvəlində məlumat qarışdırılır, bu dövri tsikllərin qarşısını alır.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ÜZV 3: MIRKƏNAN QƏDIRLI (3/6)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Marja Genişliyi və Dayaq Vektorlarının (Support Vectors) Təyini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Geometrik marja hesabı və marja sərhədində yerləşən kritik elanların analizi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GEOMETRIK MARJA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Geometrik Marjanın Hesablanması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Riyazi Tərif: Margin = 2 / ||w||₂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Geometrik Mənası: İki sinif (Premium və Standard) arasında hiper-müstəvidən ən yaxın nöqtələrə qədər olan ən qısa məsafədir.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λ ilə Marja Əlaqəsi: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λ böyük olduqda: ||w|| kiçilir -&gt; Marja genişlənir (lakin xəta arta bilər).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λ kiçik olduqda: ||w|| böyüyür -&gt; Marja daralır (Hinge loss sıxışdırılır).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Bizim Model: λ = 10⁻³ olduqda Margin = 0.84 və F1 = 0.8478 təşkil edir.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DAYAQ VEKTORLARI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Dayaq Vektorlarının (Support Vectors) Təyini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Dayaq Vektoru Meyarı: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SV = { i : y_i (w · x_i + b) ≤ 1 + ε }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Marja Zolağındakı Nümunələr: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Təlim nümunələrinin təxminən 24.2%-i dayaq vektoru kimi qeydə alındı.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Bu nümunələr qiyməti 210,000 AZN həddinə ən yaxın olan və qərar sərhədini birbaşa diktə edən kritik mənzillərdir.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Sərbəst Nümunələr: y_i (w · x_i + b) &gt; 1 olan nöqtələr marjadan kənardadır və çəkilərə heç bir qradiyent təsiri göstərmir.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ÜZV 3: MIRKƏNAN QƏDIRLI (4/6)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Qeyri-xəttilik: Random Fourier Features (RFF) Mexanizmi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Rahimi &amp; Recht (2007): RBF Gaussian Kernelinin O(D) xətti SVM ilə reallaşdırılması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RIYAZI TƏMƏL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Bochner Teoremi və RFF Xəritələməsi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Bochner Teoremi: Hər hansı stasionar və kəsilməz nüvə təsadüfi paylanmanın Fourier çevirməsi kimi ifadə edilə bilər.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Gaussian RBF Nüvəsi: k(x, x') = exp(-γ ||x - x'||²)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Aşkar Xəritələmə Funksiyası (z(x)):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z(x) = √(2/D) · cos(x W + b)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Burada W ~ N(0, 2γ I) və b ~ Uniform(0, 2π).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Daxili Hasil Nüvəyə Bərabərdir: z(x)ᵀ z(x') ≈ k(x, x')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D ölçülü yeni fəzada standart xətti Pegasos işlədilir.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ARXITEKTURA SEÇIMI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Niyə Dual Kernel Yox, Məhz RFF Seçildi?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Sual: Niyə adi Dual Kernel Pegasos işlətmədiniz?: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Cavab: 44,732 təlim nümunəsi üçün Gram matrisi N² = ~2 milyard element deməkdir (~16 GB RAM). Bu böyük verilənlər üçün dözülməzdir.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RFF Üstünlüyü: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Məlumat D = 100-300 ölçülü fəzaya proyeksiya edilir.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Yaddaş və vaxt mürəkkəbliyi O(N · D) səviyyəsində qalır.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• Ev qiymətlərindəki qeyri-xətti məkan və sahə münasibətlərini xətti sürətlə öyrənir.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ÜZV 3: MIRKƏNAN QƏDIRLI (5/6)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Lambda Süpürməsi, Sklearn Baseline-ları və Nəticələr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lambda_sweep, compare_models və Scikit-Learn LinearSVC üzərində qələbə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SÜPÜRMƏ NƏTICƏSI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λ (Lambda) Süpürməsi &amp; Trade-Off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λ = 10⁻¹ (Həddən artıq regularizasiya): Geniş marja (2.45), lakin zəif təsnifat (F1 = 0.782). Underfitting.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λ = 10⁻³ (Optimal Nöqtə): Marja və dəqiqlik arasında mükəmməl balans (Val F1 = 0.8497 ± 0.0034).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λ = 10⁻⁵ (Zəif regularizasiya): Dar marja (0.12), Hinge loss-a ifrat uyğunlaşma, testdə zəifləmə.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Yekun Seçim: λ = 10⁻³ bütün son təcrübələrdə əsas model hiperparametri kimi qəbul edildi.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MÜQAYISƏ &amp; ZƏFƏR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Sklearn Baseline Müqayisəsi &amp; Qələbə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Sklearn LinearSVC Baseline: F1 = 0.8447, Accuracy = 0.8431, ROC-AUC = 0.9278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Bizim Pegasos SVM: F1 = 0.8478, Accuracy = 0.8465, ROC-AUC = 0.9248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SGDClassifier(loss='hinge'): Yoxlanıldı və F1 ~ 0.842 səviyyəsində qaldı.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Əsas Nəticə: Bizim sıfırdan NumPy ilə yazdığımız Pegasos SVM sənaye standartı Scikit-Learn kitabxanasını F1 metriki üzrə üstələmişdir.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5-Fold CV: Pegasos SVM stabilliyi (0.8497 ± 0.0034) yüksək ümumiləşdirmə qabiliyyətini təsdiqləyir.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ÜZV 3: MIRKƏNAN QƏDIRLI (6/6)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Müdafiə Zamanı Verilə Biləcək Çətin Suallar &amp; Hazır Cavablar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Müəllimlərin SVM üzrə verə biləcəyi 4 ən kritik texniki sual və onların cavabı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Q&amp;A 1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1: Pegasos nədir və adının mənası nədir?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Pegasos (Primal Estimated sub-GrAdient SOlver for SVM) — SVM-in primal formasını stokastik subqradiyentlə birbaşa həll edən alqoritmdir. Ən böyük üstünlüyü addım ölçüsünün dinamik η_t = 1/(λ t) olması və dual optimizasiyaya ehtiyac duymamasıdır.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Q&amp;A 2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2: Hinge Loss niyə diferensiallanmır?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max(0, 1 - z) funksiyası z = 1 nöqtəsində iti küncə malikdir. Bu nöqtədə adi qradiyent yoxdur, lakin subqradiyent mövcuddur: z &lt; 1 olduqda -1, z &gt; 1 olduqda 0, z = 1 olduqda isə [-1, 0] aralığında istənilən qiymət (biz 0 qəbul edirik).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Q&amp;A 3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3: RFF necə xətti alqoritmə qeyri-xəttilik verir?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Məlumatı əvvəlcədən təsadüfi kosinus/sinus dalğaları fəzasına z(x) proyeksiya edirik. Pegasos bu yeni fəzada xətti işləyir, lakin ilkin x fəzasında bu qeyri-xətti RBF sərhədinə ekvivalent olur.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Q&amp;A 4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Sual 4: Support Vector-ları necə tapdınız?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Cavab: Fit bitdikdən sonra hər nümunə üçün funksional marja y_i(w·x_i + b) hesablanır. Əgər bu dəyər ≤ 1 + ε olarsa, deməli həmin nöqtə marja zolağının içindədir və ya sərhəddədir — bunlar məhz dayaqlardır (~24%).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BIRGƏ NƏTICƏLƏR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Tam Müqayisə Cədvəlləri: Bütün Modellərin Test &amp; 5-Fold CV Nəticələri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Hesabatın II Cədvəli: Scikit-learn vs Bizim Sıfırdan Modellərimiz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 (Task 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Bizim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0.9210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Sklearn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0.9161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0.9126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0.9180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0.9153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0.9072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Bizim Pegasos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0.8478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Sklearn LinearSVC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0.8431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0.8261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0.8642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0.8447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0.9278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64592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932688"/>
                <a:gridCol w="932688"/>
                <a:gridCol w="932688"/>
                <a:gridCol w="932688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 (Task 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RMSE(log)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R²(log)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RMSE(AZN)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MAE(AZN)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Sklearn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0.3633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233,671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74,607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Bizim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0.4647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0.6096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263,908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98,086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480560"/>
            <a:ext cx="10698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CROSS-VALIDATION STABILLIYI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5-Fold Sızmasız (Leak-Free) Çarpaz Doğrulama Nəticələri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Task B 5-Fold CV: Bizim Tree F1 = 0.9160 ± 0.0020 (Sklearn: 0.9155 ± 0.0024) — Modelimiz daha üstün və stabildir.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Task B 5-Fold CV: Bizim Pegasos SVM F1 = 0.8497 ± 0.0034 (LinearSVC: 0.8477 ± 0.0029) — Bizim model Scikit-Learn-i üstələyir.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Fərqlərin İzahı: Float threshold yuvarlaqlaşdırması və bərabərlik (tie-breaking) qaydaları minimal fərqlər yaradır, ümumi trend tam eynidir.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MODEL DIAQNOSTIKASI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Xətaların Qranulyar Analizi: Modellər Harada və Niyə Səhv Edir?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Problem 6 Error Diagnostics: Qiymət diapazonları, kateqoriyalar və dəbdəbəli seqment</a:t>
            </a:r>
          </a:p>
        </p:txBody>
      </p:sp>
      <p:pic>
        <p:nvPicPr>
          <p:cNvPr id="6" name="Picture 5" descr="08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BAZAR DIAQNOSTIKASI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Əsas Xəta Mənbələri &amp; Bazar İnsaytları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1. Hədd Ətrafında Sıxlaşma (200k - 350k AZN):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Xətaların böyük əksəriyyəti 210,000 AZN bölgü nöqtəsinə çox yaxın olan evlərdə baş verir (marjinal qeyri-müəyyənlik).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2. Lüks Mənzillərin Aşağı Qiymətləndirilməsi (&gt; 1,000,000 AZN):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Ağac modelləri 1M+ mənzilləri sistematik olaraq aşağı qiymətləndirir (median xəta 34.8%, bias -540,000 AZN). Səbəb: lüks təmir, dəniz mənzərəsi kimi unikal keyfiyyətlərin cədvəldə olmaması.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3. Rayon Disbalansı: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  Mərkəzi rayonlar (Nəsimi, Səbail) yüksək dəqiqliklə proqnozlaşdırılır, ucqar qəsəbələrdə isə seyrək data səbəbilə dispersiya artır.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MÜDAFIƏ ZƏMANƏTI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Sabahkı Layihə Müdafiəsi üçün Qızıl Qaydalar &amp; Xülasə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İstənilən qəfil suala qarşı komandanın vahid və sarsılmaz arqumentləri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DATA MÜDAFIƏSI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Məlumat &amp; Leakage (Eldar)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Harada leakage ola bilərdi?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'unit_price', 'total_price' və post-listing sütunlarında. Onları Whitelist ilə tam blokladıq.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Niyə median imputasiya yoxdur?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Sızmanın qarşısını almaq üçün 0 sentinel və *_missing flag-i tətbiq etdik.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Standartlaşdırma necə aparıldı?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μ və σ yalnız Train-dən hesablanıb Val və Test-ə tətbiq edildi.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TREE MÜDAFIƏSI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Decision Tree (Nərminə)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Cumsum split necə işləyir?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Feature sort edilir, sol cəmlər np.cumsum ilə tək əməliyyatda alınır, sağ tərəf Total - Left ilə O(1)-də tapılır.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Sklearn ilə splitlər eynidirmi?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Bəli, tests/test_tree.py 100% split həddi və qazanc bərabərliyini sübut edir.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Ən vacib feature hansıdır?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Sahə (~48%) və Mərkəzə məsafə (~22%).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SVM MÜDAFIƏSI</a:t>
            </a:r>
            <a:br/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</a:defRPr>
            </a:pPr>
            <a:r>
              <a:t>Pegasos SVM (Mirkənan)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Niyə dual yox, RFF seçildi?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N² Gram matrisi 2 milyard element (~16GB) tələb edirdi. RFF ilə O(N·D) xətti sürət qazandıq.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Support vector-lar kimlərdir?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y_i(w·x_i+b) ≤ 1+ε şərtini ödəyən 24.2% kritik nümunələr.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• Sual: Nəticəniz sklearn-dən yaxşıdırmı?</a:t>
            </a:r>
          </a:p>
          <a:p>
            <a:pPr>
              <a:spcAft>
                <a:spcPts val="400"/>
              </a:spcAft>
              <a:defRPr sz="980">
                <a:solidFill>
                  <a:srgbClr val="CBD5E1"/>
                </a:solidFill>
              </a:defRPr>
            </a:pPr>
            <a:r>
              <a:t>•   Cavab: Bəli, F1 skorumuz 0.8478 olaraq LinearSVC-ni (0.8447) qabaqladı.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